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1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AADDE"/>
              </a:solidFill>
              <a:effectLst/>
            </c:spPr>
          </c:dPt>
          <c:dPt>
            <c:idx val="1"/>
            <c:bubble3D val="0"/>
            <c:spPr>
              <a:solidFill>
                <a:srgbClr val="92C444"/>
              </a:solidFill>
              <a:effectLst/>
            </c:spPr>
          </c:dPt>
          <c:dPt>
            <c:idx val="2"/>
            <c:bubble3D val="0"/>
            <c:spPr>
              <a:solidFill>
                <a:srgbClr val="0EA5E9"/>
              </a:solidFill>
              <a:effectLst/>
            </c:spPr>
          </c:dPt>
          <c:dPt>
            <c:idx val="3"/>
            <c:bubble3D val="0"/>
            <c:spPr>
              <a:solidFill>
                <a:srgbClr val="84CC16"/>
              </a:solidFill>
              <a:effectLst/>
            </c:spPr>
          </c:dPt>
          <c:dPt>
            <c:idx val="4"/>
            <c:bubble3D val="0"/>
            <c:spPr>
              <a:solidFill>
                <a:srgbClr val="0284C7"/>
              </a:solidFill>
              <a:effectLst/>
            </c:spPr>
          </c:dPt>
          <c:dPt>
            <c:idx val="5"/>
            <c:bubble3D val="0"/>
            <c:spPr>
              <a:solidFill>
                <a:srgbClr val="65A30D"/>
              </a:solidFill>
              <a:effectLst/>
            </c:spPr>
          </c:dPt>
          <c:dPt>
            <c:idx val="6"/>
            <c:bubble3D val="0"/>
            <c:spPr>
              <a:solidFill>
                <a:srgbClr val="1A6E9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Painéis Dashboard</c:v>
                </c:pt>
                <c:pt idx="1">
                  <c:v>Formulário</c:v>
                </c:pt>
                <c:pt idx="2">
                  <c:v>Layout/Nav</c:v>
                </c:pt>
                <c:pt idx="3">
                  <c:v>Utilitários</c:v>
                </c:pt>
                <c:pt idx="4">
                  <c:v>Consulta</c:v>
                </c:pt>
                <c:pt idx="5">
                  <c:v>Avatar</c:v>
                </c:pt>
                <c:pt idx="6">
                  <c:v>Diálogos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8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3AADDE"/>
          </a:solidFill>
          <a:ln/>
        </p:spPr>
      </p:sp>
      <p:pic>
        <p:nvPicPr>
          <p:cNvPr id="3" name="Image 0" descr="C:\Users\ferch\OneDrive\Área de Trabalho\Challenge - Care Plus Family\.claude\worktrees\hungry-euclid-73d662\assets\Images\logo-care-pl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48640"/>
            <a:ext cx="256032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1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TÉCNICA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4297680"/>
            <a:ext cx="1097280" cy="36576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370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Soares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80560" y="1554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4480560" y="2240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448056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saúde familiar e corporativa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80560" y="3520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detalhada de arquitetura, features, design e métricas do projeto front-end.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blocos cobrindo análise técnica completa do projeto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" cy="54864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348740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487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1325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Contexto, público-alvo e proposta de valor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938528"/>
            <a:ext cx="7680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938528"/>
            <a:ext cx="73152" cy="54864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007108"/>
            <a:ext cx="411480" cy="41148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0071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19842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Padrões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19842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Web Components, roteamento e persistência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596896"/>
            <a:ext cx="7680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596896"/>
            <a:ext cx="73152" cy="54864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2665476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6654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2642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 Fluxos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0" y="26426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Autenticação, agendamento, Game Plus + e dashboards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255264"/>
            <a:ext cx="7680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255264"/>
            <a:ext cx="73152" cy="54864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3323844"/>
            <a:ext cx="411480" cy="41148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3238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33009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UX e Responsividade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57600" y="33009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visual, microinterações e breakpoints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3913632"/>
            <a:ext cx="7680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3913632"/>
            <a:ext cx="73152" cy="54864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3982212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9822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17320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 Conclusão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657600" y="39593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Estatísticas, pontos fortes e roadmap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Projeto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front-end estática de saúde com experiência dual-mode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329184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institucional + área logada da Care Plus, operadora de saúde premium. Cobre cadastro, agendamento, gestão de família e empresa, especialidades médicas e um sistema completo de gamificação (Game Plus +).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Públicos atendidos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 (Beneficiário): CPF, dependentes, consultas e tarefas pessoais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(Gestor): CNPJ, gestão de colaboradores e métricas corporativas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Visitante: páginas públicas de marca, especialidades e contato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280160"/>
            <a:ext cx="1417320" cy="1600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1280160"/>
            <a:ext cx="73152" cy="160020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4630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669280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HTML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1280160"/>
            <a:ext cx="1417320" cy="1600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78040" y="1280160"/>
            <a:ext cx="73152" cy="160020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4630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178040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Components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2971800"/>
            <a:ext cx="1417320" cy="1600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0" y="2971800"/>
            <a:ext cx="73152" cy="160020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31546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669280" y="3977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globais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78040" y="2971800"/>
            <a:ext cx="1417320" cy="1600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78040" y="2971800"/>
            <a:ext cx="73152" cy="160020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31546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7178040" y="3977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CSS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nativa sem build tools — Vanilla JS, Bootstrap 5 e Web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5087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Marcação semântica em 27 páginas estruturadas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280160"/>
            <a:ext cx="73152" cy="150876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Variáveis, Grid, Flexbox, animações e media queries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280160"/>
            <a:ext cx="73152" cy="15087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classes, Custom Elements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73152" cy="150876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grid responsivo, modais e utilitários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71800"/>
            <a:ext cx="73152" cy="15087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 1.11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7472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Iconografia consistente via CDN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73152" cy="150876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936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 Montserrat (400/500/600/700/800)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framework SPA, sem bundler, sem dependências node — código pronto para servir como assets estáticos.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Geral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modular por responsabilidade — separação clara entre páginas, componentes e scripts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329184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7465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Base.html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75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A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4048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Pages/   (27 HTML, 23 pastas)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7340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Components/   (30 Web Components)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CSS/   (18 folhas globais)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3924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js/   (9 scripts globais)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7216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Images/   (avatars, ícones, fotos)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Pontos-chave da organização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164592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em pasta própria com JS + CSS dedicados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agrupadas por tela funcional (Login, Avatar, Familia, RankingEmpresa…)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LayoutGlobal.js injeta header e footer automaticamente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Família e Empresa separadas em scripts distintos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organizadas por contexto (Avatares, GamePlus, FamiliaCarplus…)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dependências de runtime além de Bootstrap via CDN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Web Components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30 componentes seguem o mesmo padrão de Custom Element ES6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486400" cy="32918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3291840"/>
          </a:xfrm>
          <a:prstGeom prst="rect">
            <a:avLst/>
          </a:prstGeom>
          <a:solidFill>
            <a:srgbClr val="1A6E9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CardConsulta.js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CardConsulta extends HTMLElement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connectedCallback()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dia = this.getAttribute('dia');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especialidade = this.getAttribute('especialidade');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this.innerHTML = `&lt;div class="card"&gt;${dia} — ${especialidade}&lt;/div&gt;`;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this.querySelector('.btn-cancelar')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.addEventListener('click', () =&gt; this.cancelar());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26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customElements.define('card-consulta', CardConsulta);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esse padrão?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164592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nativa do navegador — sem React/Vue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Reutilização: &lt;card-consulta&gt; em várias páginas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HTML viram parâmetros de configuração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 de lógica e estilo por componente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DOM padrão para comunicação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Avançados de Custom Elements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técnicas que elevam os componentes além do CRUD básico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342900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AvatarPreview.js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 total de CSS e DOM. attachShadow({mode:'open'}) isola estilos do resto da página — útil para o avatar multicamadas.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429000"/>
            <a:ext cx="242316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this.attachShadow({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mode: 'open'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6517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34440"/>
            <a:ext cx="73152" cy="342900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Attributes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AvatarPreview.js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205740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Reação a mudanças de atributo. attributeChangedCallback dispara quando 'cabelo', 'olhos', 'roupa' mudam — re-renderização declarativa.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3429000"/>
            <a:ext cx="242316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observedAttributes()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['cabelo',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'olhos','roupa'];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26517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234440"/>
            <a:ext cx="73152" cy="342900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Events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CadastrarFuncionario.js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05740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filho-pai via dispatchEvent. Eventos com bubbles:true e composed:true atravessam Shadow DOM até o listener.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429000"/>
            <a:ext cx="242316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this.dispatchEvent(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CustomEvent(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'deletar-funcionario',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{bubbles:true,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composed:true}));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 e Layout Global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router SPA: LayoutGlobal.js inspeciona a URL e injeta o layout certo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914400"/>
          </a:xfrm>
          <a:prstGeom prst="rect">
            <a:avLst/>
          </a:prstGeom>
          <a:solidFill>
            <a:srgbClr val="E1F3FB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91440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window.location.pathname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rot="5400000">
            <a:off x="2606040" y="1828800"/>
            <a:ext cx="228600" cy="18288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737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71800" y="1463040"/>
            <a:ext cx="2468880" cy="914400"/>
          </a:xfrm>
          <a:prstGeom prst="rect">
            <a:avLst/>
          </a:prstGeom>
          <a:solidFill>
            <a:srgbClr val="EAF5D6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71800" y="1463040"/>
            <a:ext cx="73152" cy="91440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8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LayoutGlobal.js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contra lista de páginas públicas / família / empresa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1737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943600" y="114300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143000"/>
            <a:ext cx="73152" cy="45720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188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&lt;navbar-deslogado&gt;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9164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1691640"/>
            <a:ext cx="73152" cy="45720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737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&lt;meu-header&gt;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224028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2240280"/>
            <a:ext cx="73152" cy="457200"/>
          </a:xfrm>
          <a:prstGeom prst="rect">
            <a:avLst/>
          </a:prstGeom>
          <a:solidFill>
            <a:srgbClr val="1A6E96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2286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&lt;meu-header-empresa&gt;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813816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200400"/>
            <a:ext cx="73152" cy="141732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mais o layout global faz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56616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Injeta &lt;footer-care&gt; em todas as páginas via document.body.insertAdjacentHTML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&lt;cookie-banner&gt; em primeira visita (banner persistente com LGPD)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LayoutGlobalEmpresa.js é equivalente mas para o ecossistema corporativo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página HTML importa apenas um &lt;script type="module"&gt; — o resto é montado por código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de Dados e Mocks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backend: localStorage para customização persistente, dados mock para o restante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329184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real entre sessões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3703320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945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localStorage.setItem(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'careplus_avatar',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JSON.stringify({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genero, cabelo, olhos,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boca, roupa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em: Avatar customizado (gênero + 4 atributos visuais)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Hardcoded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simulados para apresentação do fluxo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GerenciarConsultas.js — 3 consultas mock com data real e validação passado/futuro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PainelRanking.js — 15 jogadores em 3 abas (Individual / Familiar / Empresarial)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PainelTarefas.js — 7 metas com percentual de conclusão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FormularioEmpresa.js — colaboradores fictícios e busca em tempo real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PainelTroca.js — 3 ofertas de gift cards (500 / 2500 / 5000 pts)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áreas funcionais cobrindo todo o ciclo do usuário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745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8229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1280160"/>
            <a:ext cx="18745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14600" y="1280160"/>
            <a:ext cx="73152" cy="82296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280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Família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18745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280160"/>
            <a:ext cx="73152" cy="82296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280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Empresa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29400" y="1280160"/>
            <a:ext cx="18745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29400" y="1280160"/>
            <a:ext cx="73152" cy="8229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1280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Família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18745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86000"/>
            <a:ext cx="73152" cy="8229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86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Empresa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14600" y="2286000"/>
            <a:ext cx="18745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14600" y="2286000"/>
            <a:ext cx="73152" cy="82296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21" name="Text 19"/>
          <p:cNvSpPr/>
          <p:nvPr/>
        </p:nvSpPr>
        <p:spPr>
          <a:xfrm>
            <a:off x="2514600" y="2286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2286000"/>
            <a:ext cx="18745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286000"/>
            <a:ext cx="73152" cy="82296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2286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Plus +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29400" y="2286000"/>
            <a:ext cx="18745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29400" y="2286000"/>
            <a:ext cx="73152" cy="8229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2286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Custom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18745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291840"/>
            <a:ext cx="73152" cy="8229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2918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&amp; Tarefas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514600" y="3291840"/>
            <a:ext cx="18745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14600" y="3291840"/>
            <a:ext cx="73152" cy="82296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33" name="Text 31"/>
          <p:cNvSpPr/>
          <p:nvPr/>
        </p:nvSpPr>
        <p:spPr>
          <a:xfrm>
            <a:off x="2514600" y="32918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Pontos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0" y="3291840"/>
            <a:ext cx="18745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3291840"/>
            <a:ext cx="73152" cy="8229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32918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629400" y="3291840"/>
            <a:ext cx="18745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29400" y="3291840"/>
            <a:ext cx="73152" cy="82296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32918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&amp; Contato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combina uma página HTML, scripts dedicados e múltiplos Web Components reutilizáveis.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dual-mode com flip 3D entre Beneficiário (CPF) e Empresa (CNPJ)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754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329184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4805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com efeito 3D (transform: rotateY(180deg)) alterna entre frente/verso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.girar é togglada por JavaScript ao clicar Beneficiário / Empresa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Backface-visibility: hidden mantém apenas um lado visível por vez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dos campos via &lt;campo-form&gt; (Web Component reutilizável)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senha em página dedicada (EsqueceuSenha.html)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Redirecionamento diferenciado pós-login (HomePageLogado ou HomePageEmpresaLogado)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280160"/>
            <a:ext cx="320040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1280160"/>
            <a:ext cx="73152" cy="329184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8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Glassmorphism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AuthGlass.css aplica: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2057400"/>
            <a:ext cx="2926080" cy="228600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1031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026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backdrop-filter: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blur(20px);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26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linear-gradient(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135deg,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rgba(255,255,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255,.9) 0%,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rgba(255,255,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255,.55) 100%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em Dois Passos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 distintos para Família e Empresa com componentes reutilizáveis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329184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Família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FormularioFamilia.js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1: dados pessoais (Nome, CPF, e-mail, senha, nascimento)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2: endereço (CEP, logradouro, cidade, vínculo empresa)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inteligente (checkboxes auto-excludentes)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membros da família dinamicamente (nome, CPF, responsável)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rolável com membros cadastrados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Empresa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FormularioEmpresa.js + CadastrarFuncionario.js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10312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1: razão social, CNPJ, e-mail corporativo, senha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2: nome fantasia + endereço comercial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colaboradores com avatar de iniciais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em tempo real (input.addEventListener('input'))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 alfabética automática via Array.sort + localeCompare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Família — HomePageLogado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comando do beneficiário: saúde, agenda e ações rápidas em uma tela</a:t>
            </a:r>
            <a:endParaRPr lang="en-US" sz="1400" dirty="0"/>
          </a:p>
        </p:txBody>
      </p:sp>
      <p:pic>
        <p:nvPicPr>
          <p:cNvPr id="4" name="Image 0" descr="C:\Users\ferch\OneDrive\Área de Trabalho\Challenge - Care Plus Family\.claude\worktrees\hungry-euclid-73d662\assets\Images\GamePlus\Personalizar-Famil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329184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23360" y="1280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e componentes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023360" y="1645920"/>
            <a:ext cx="411480" cy="41148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7" name="Text 4"/>
          <p:cNvSpPr/>
          <p:nvPr/>
        </p:nvSpPr>
        <p:spPr>
          <a:xfrm>
            <a:off x="402336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2628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+ Avatar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26280" y="1892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com ring estilizado e atalho para personalização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023360" y="2240280"/>
            <a:ext cx="411480" cy="41148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11" name="Text 8"/>
          <p:cNvSpPr/>
          <p:nvPr/>
        </p:nvSpPr>
        <p:spPr>
          <a:xfrm>
            <a:off x="402336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2628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Dinâmico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26280" y="24871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&lt;calendario-dinamico&gt; com navegação mensal interativa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23360" y="2834640"/>
            <a:ext cx="411480" cy="41148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15" name="Text 12"/>
          <p:cNvSpPr/>
          <p:nvPr/>
        </p:nvSpPr>
        <p:spPr>
          <a:xfrm>
            <a:off x="402336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26280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 Monitoramento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26280" y="3081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CardHub: Passos, BPM, Glicemia, Água, Sono — SVG circulares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023360" y="3429000"/>
            <a:ext cx="411480" cy="41148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19" name="Text 16"/>
          <p:cNvSpPr/>
          <p:nvPr/>
        </p:nvSpPr>
        <p:spPr>
          <a:xfrm>
            <a:off x="40233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26280" y="3429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Consultas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26280" y="3675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instâncias de &lt;card-consulta&gt; renderizadas via JS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023360" y="4023360"/>
            <a:ext cx="411480" cy="41148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23" name="Text 20"/>
          <p:cNvSpPr/>
          <p:nvPr/>
        </p:nvSpPr>
        <p:spPr>
          <a:xfrm>
            <a:off x="40233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2628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Meus Encaixes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26280" y="4270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fila de espera com data e período preferencial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Empresa — HomePageEmpresaLogado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executiva: pontuação corporativa, ranking global e gestão de colaboradores</a:t>
            </a:r>
            <a:endParaRPr lang="en-US" sz="1400" dirty="0"/>
          </a:p>
        </p:txBody>
      </p:sp>
      <p:pic>
        <p:nvPicPr>
          <p:cNvPr id="4" name="Image 0" descr="C:\Users\ferch\OneDrive\Área de Trabalho\Challenge - Care Plus Family\.claude\worktrees\hungry-euclid-73d662\assets\Images\GamePlus\Personalizar-Empres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329184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23360" y="1280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 gestão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023360" y="1645920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7" name="Text 4"/>
          <p:cNvSpPr/>
          <p:nvPr/>
        </p:nvSpPr>
        <p:spPr>
          <a:xfrm>
            <a:off x="402336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2628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 Total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26280" y="1892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12.850 pts da empresa com ícone de raio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023360" y="2240280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11" name="Text 8"/>
          <p:cNvSpPr/>
          <p:nvPr/>
        </p:nvSpPr>
        <p:spPr>
          <a:xfrm>
            <a:off x="402336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2628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Global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26280" y="24871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1º colocada entre empresas parceiras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23360" y="2834640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15" name="Text 12"/>
          <p:cNvSpPr/>
          <p:nvPr/>
        </p:nvSpPr>
        <p:spPr>
          <a:xfrm>
            <a:off x="402336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26280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5 Estrelas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26280" y="3081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avaliada — visual de 5 estrelas preenchidas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023360" y="3429000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19" name="Text 16"/>
          <p:cNvSpPr/>
          <p:nvPr/>
        </p:nvSpPr>
        <p:spPr>
          <a:xfrm>
            <a:off x="40233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26280" y="3429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Colaboradores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26280" y="3675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Bootstrap para cadastrar + ordenação automática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023360" y="4023360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23" name="Text 20"/>
          <p:cNvSpPr/>
          <p:nvPr/>
        </p:nvSpPr>
        <p:spPr>
          <a:xfrm>
            <a:off x="40233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2628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CustomEvent deletar-funcionario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26280" y="4270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filho-pai via evento com bubbles/composed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de Consultas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PainelAgendamento — fluxo completo da escolha à confirmação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2801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1481328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14447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 Geral, Cardiologia, Psicologia, Odontologia…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80160"/>
            <a:ext cx="73152" cy="12801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6432" y="1481328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13" name="Text 11"/>
          <p:cNvSpPr/>
          <p:nvPr/>
        </p:nvSpPr>
        <p:spPr>
          <a:xfrm>
            <a:off x="3456432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05072" y="14447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Paulista, Faria Lima, Telemedicina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80160"/>
            <a:ext cx="73152" cy="12801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8" name="Shape 16"/>
          <p:cNvSpPr/>
          <p:nvPr/>
        </p:nvSpPr>
        <p:spPr>
          <a:xfrm>
            <a:off x="6291072" y="1481328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39712" y="14447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filtrada por especialidade/unidade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743200"/>
            <a:ext cx="73152" cy="12801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" y="2944368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2944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70432" y="29077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383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Abril/Maio 2026 com legenda de disponibilidade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274320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743200"/>
            <a:ext cx="73152" cy="12801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30" name="Shape 28"/>
          <p:cNvSpPr/>
          <p:nvPr/>
        </p:nvSpPr>
        <p:spPr>
          <a:xfrm>
            <a:off x="3456432" y="2944368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31" name="Text 29"/>
          <p:cNvSpPr/>
          <p:nvPr/>
        </p:nvSpPr>
        <p:spPr>
          <a:xfrm>
            <a:off x="3456432" y="2944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05072" y="29077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0" y="3383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de slots (1h cada) ou fila de espera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274320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743200"/>
            <a:ext cx="73152" cy="12801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36" name="Shape 34"/>
          <p:cNvSpPr/>
          <p:nvPr/>
        </p:nvSpPr>
        <p:spPr>
          <a:xfrm>
            <a:off x="6291072" y="2944368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37" name="Text 35"/>
          <p:cNvSpPr/>
          <p:nvPr/>
        </p:nvSpPr>
        <p:spPr>
          <a:xfrm>
            <a:off x="6291072" y="2944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39712" y="29077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09360" y="3383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 sucesso + redirecionamento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PainelAgendamento + Calendario.js + integração com fila de espera.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Consultas — CardConsulta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componente, três modos de exibição — máxima reutilização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Padrão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55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modo="padrao"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compacto com data, especialidade, profissional e horário. Cor lateral muda conforme especialidade.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80160"/>
            <a:ext cx="73152" cy="237744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Detalhes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1755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modo="detalhes"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 animada expande painel com endereço, contato, link de rota WhatsApp e clima previsto.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80160"/>
            <a:ext cx="73152" cy="2377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Edição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1755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modo="edicao"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10312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botões Remarcar e Cancelar. Modal pede justificativa para cancelamento.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1381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94760"/>
            <a:ext cx="73152" cy="8229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58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GerenciarConsultas.js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 3 instâncias com data validada (passado = opacidade 50%), cor por especialidade e botões habilitados/desabilitados.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Plus + — Visão Geral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completo de gamificação como diferencial competitivo da plataforma</a:t>
            </a:r>
            <a:endParaRPr lang="en-US" sz="1400" dirty="0"/>
          </a:p>
        </p:txBody>
      </p:sp>
      <p:pic>
        <p:nvPicPr>
          <p:cNvPr id="4" name="Image 0" descr="C:\Users\ferch\OneDrive\Área de Trabalho\Challenge - Care Plus Family\.claude\worktrees\hungry-euclid-73d662\assets\Images\GamePlus\Personalizar-Rank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32004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0" y="1371600"/>
            <a:ext cx="475488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931920" y="1371600"/>
            <a:ext cx="73152" cy="54864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7" name="Shape 4"/>
          <p:cNvSpPr/>
          <p:nvPr/>
        </p:nvSpPr>
        <p:spPr>
          <a:xfrm>
            <a:off x="4023360" y="1444752"/>
            <a:ext cx="411480" cy="41148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8" name="Text 5"/>
          <p:cNvSpPr/>
          <p:nvPr/>
        </p:nvSpPr>
        <p:spPr>
          <a:xfrm>
            <a:off x="402336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2628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Multicamadas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camadas PNG, 2 gêneros, Shadow DOM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931920" y="2011680"/>
            <a:ext cx="475488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931920" y="2011680"/>
            <a:ext cx="73152" cy="54864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3" name="Shape 10"/>
          <p:cNvSpPr/>
          <p:nvPr/>
        </p:nvSpPr>
        <p:spPr>
          <a:xfrm>
            <a:off x="4023360" y="2084832"/>
            <a:ext cx="411480" cy="41148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14" name="Text 11"/>
          <p:cNvSpPr/>
          <p:nvPr/>
        </p:nvSpPr>
        <p:spPr>
          <a:xfrm>
            <a:off x="402336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e Metas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desafios com progresso colorido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931920" y="2651760"/>
            <a:ext cx="475488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931920" y="2651760"/>
            <a:ext cx="73152" cy="54864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9" name="Shape 16"/>
          <p:cNvSpPr/>
          <p:nvPr/>
        </p:nvSpPr>
        <p:spPr>
          <a:xfrm>
            <a:off x="4023360" y="2724912"/>
            <a:ext cx="411480" cy="41148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20" name="Text 17"/>
          <p:cNvSpPr/>
          <p:nvPr/>
        </p:nvSpPr>
        <p:spPr>
          <a:xfrm>
            <a:off x="402336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52628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abas: Individual, Familiar, Empresarial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931920" y="3291840"/>
            <a:ext cx="475488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931920" y="3291840"/>
            <a:ext cx="73152" cy="54864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25" name="Shape 22"/>
          <p:cNvSpPr/>
          <p:nvPr/>
        </p:nvSpPr>
        <p:spPr>
          <a:xfrm>
            <a:off x="4023360" y="3364992"/>
            <a:ext cx="411480" cy="41148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26" name="Text 23"/>
          <p:cNvSpPr/>
          <p:nvPr/>
        </p:nvSpPr>
        <p:spPr>
          <a:xfrm>
            <a:off x="402336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52628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Pontos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0080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cards com validação de saldo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931920" y="3931920"/>
            <a:ext cx="475488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931920" y="3931920"/>
            <a:ext cx="73152" cy="54864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0" y="4005072"/>
            <a:ext cx="411480" cy="41148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32" name="Text 29"/>
          <p:cNvSpPr/>
          <p:nvPr/>
        </p:nvSpPr>
        <p:spPr>
          <a:xfrm>
            <a:off x="402336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52628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Geral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40080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animadas com shimmer effect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Plus + — Avatar Multicamadas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AvatarPreview combina Shadow DOM + observedAttributes para customização reativa</a:t>
            </a:r>
            <a:endParaRPr lang="en-US" sz="1400" dirty="0"/>
          </a:p>
        </p:txBody>
      </p:sp>
      <p:pic>
        <p:nvPicPr>
          <p:cNvPr id="4" name="Image 0" descr="C:\Users\ferch\OneDrive\Área de Trabalho\Challenge - Care Plus Family\.claude\worktrees\hungry-euclid-73d662\assets\Images\GamePlus\Personalizar-Avat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310896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0" y="1280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 Renderização (Z-Index)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886200" y="1691640"/>
            <a:ext cx="274320" cy="27432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7" name="Text 4"/>
          <p:cNvSpPr/>
          <p:nvPr/>
        </p:nvSpPr>
        <p:spPr>
          <a:xfrm>
            <a:off x="38862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51960" y="16733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Cabelo (topo)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86200" y="2002536"/>
            <a:ext cx="274320" cy="27432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10" name="Text 7"/>
          <p:cNvSpPr/>
          <p:nvPr/>
        </p:nvSpPr>
        <p:spPr>
          <a:xfrm>
            <a:off x="3886200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51960" y="19842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86200" y="2313432"/>
            <a:ext cx="274320" cy="27432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13" name="Text 10"/>
          <p:cNvSpPr/>
          <p:nvPr/>
        </p:nvSpPr>
        <p:spPr>
          <a:xfrm>
            <a:off x="3886200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51960" y="22951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86200" y="2624328"/>
            <a:ext cx="274320" cy="27432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16" name="Text 13"/>
          <p:cNvSpPr/>
          <p:nvPr/>
        </p:nvSpPr>
        <p:spPr>
          <a:xfrm>
            <a:off x="388620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251960" y="2606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Olhos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886200" y="2935224"/>
            <a:ext cx="274320" cy="2743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9" name="Text 16"/>
          <p:cNvSpPr/>
          <p:nvPr/>
        </p:nvSpPr>
        <p:spPr>
          <a:xfrm>
            <a:off x="3886200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51960" y="29169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 corpo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840480" y="3383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técnicas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0" y="36576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gêneros (masculino/feminino) com sets de imagens próprios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≈18 opções de customização (10 cabelos, 3 olhos, 2 bocas, 3 roupas)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via localStorage('careplus_avatar')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Transições suaves entre layers com opacity 0.4s ease-in-out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Plus + — Tarefas e Ranking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PainelTarefas e PainelRanking trabalham juntos para engajamento contínuo</a:t>
            </a:r>
            <a:endParaRPr lang="en-US" sz="1400" dirty="0"/>
          </a:p>
        </p:txBody>
      </p:sp>
      <p:pic>
        <p:nvPicPr>
          <p:cNvPr id="4" name="Image 0" descr="C:\Users\ferch\OneDrive\Área de Trabalho\Challenge - Care Plus Family\.claude\worktrees\hungry-euclid-73d662\assets\Images\GamePlus\Personalizar-Taref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31089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749040" y="1280160"/>
            <a:ext cx="4937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749040" y="1280160"/>
            <a:ext cx="73152" cy="155448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7" name="Text 4"/>
          <p:cNvSpPr/>
          <p:nvPr/>
        </p:nvSpPr>
        <p:spPr>
          <a:xfrm>
            <a:off x="393192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PainelTarefas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931920" y="16916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metas: 10k passos, 3L água, consulta semestral, vídeo aula, acesso diário…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progresso com cor dinâmica (verde 100% / amarelo parcial / vermelho zero)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 por tarefa exibida na coluna direita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749040" y="2926080"/>
            <a:ext cx="4937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49040" y="2926080"/>
            <a:ext cx="73152" cy="169164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1" name="Text 8"/>
          <p:cNvSpPr/>
          <p:nvPr/>
        </p:nvSpPr>
        <p:spPr>
          <a:xfrm>
            <a:off x="393192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PainelRanking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931920" y="33375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abas via botões com data-target: Individual, Familiar, Empresarial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com medalhas (ouro/prata/bronze) usando gradients lineares CSS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Animação cascata: cada linha aparece com slideUpFade e delay incremental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superior mostra avatar do usuário, posição e pontuação atual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Plus + — Troca de Pontos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gift cards com validação de saldo e animação numérica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1031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210312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 básico — entrada acessível para qualquer usuário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21031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80160"/>
            <a:ext cx="73152" cy="210312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2.500 pts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intermediário — meta de médio prazo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21031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80160"/>
            <a:ext cx="73152" cy="2103120"/>
          </a:xfrm>
          <a:prstGeom prst="rect">
            <a:avLst/>
          </a:prstGeom>
          <a:solidFill>
            <a:srgbClr val="1A6E96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pts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560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 VIP — incentivo para engajamento de longo prazo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1381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11880"/>
            <a:ext cx="73152" cy="100584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resgate (PainelTroca.js)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saldo antes do resgate — exibe 'Saldo Insuficiente' com quantos pontos faltam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Animação de números decrescentes do saldo antigo até o novo (efeito de contador)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via modal global com mensagem dinâmica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Públicas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institucional e captação — landing, especialidades, unidades e contatos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96012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pilares de cuidado, especialidades, banner Game Plus +, depoimentos em carrossel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80160"/>
            <a:ext cx="73152" cy="96012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dedicado, 7 especialidades em grid, carrossel de 12 tratamentos em 3 slides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77440"/>
            <a:ext cx="73152" cy="96012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estrutura da Odontologia adaptada para procedimentos dermatológicos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37744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377440"/>
            <a:ext cx="73152" cy="96012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vertical interativa explicando os 5 passos da gamificação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74720"/>
            <a:ext cx="73152" cy="96012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de unidades com cidade, endereço, telefone e WhatsApp (SVG icons inline)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47472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474720"/>
            <a:ext cx="73152" cy="96012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contato com canais oficiais e formulário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institucional Care Plus + tipografia Montserrat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31520" cy="502920"/>
          </a:xfrm>
          <a:prstGeom prst="rect">
            <a:avLst/>
          </a:prstGeom>
          <a:solidFill>
            <a:srgbClr val="3AADD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6184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Care Plus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847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#3AADDE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731520" cy="502920"/>
          </a:xfrm>
          <a:prstGeom prst="rect">
            <a:avLst/>
          </a:prstGeom>
          <a:solidFill>
            <a:srgbClr val="92C44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2585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Care Plus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4871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#92C444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7315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8986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Principal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31272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#1F2937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7315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35387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Suave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37673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#F8FAFC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234440"/>
            <a:ext cx="41148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234440"/>
            <a:ext cx="73152" cy="338328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737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Montserrat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88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• Pesos 400, 500, 600, 700, 800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aplicada: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01752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Títulos: peso 800/900 com letter-spacing negativo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Subtítulos: 600/700 em uppercase com tracking +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Corpo: 400/500 e line-height 1.6–1.8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 12–24px e sombras suaves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e Microinterações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refinados que elevam a percepção de qualidade da interface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96012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 blur(20px) com background semi-transparente em AuthGlass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80160"/>
            <a:ext cx="73152" cy="96012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3D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rotateY(180deg) + backface-visibility para alternar login Beneficiário/Empresa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77440"/>
            <a:ext cx="73152" cy="96012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Shimmer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move-shimmer animando background-position em barras de progresso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37744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377440"/>
            <a:ext cx="73152" cy="96012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Effect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box-shadow 0 0 15px rgba(58,173,222,0.6) em nodes da timeline Game Plus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74720"/>
            <a:ext cx="73152" cy="96012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Slide-Up Cascata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do ranking aparecem com delay incremental e cubic-bezier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47472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474720"/>
            <a:ext cx="73152" cy="96012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 Flutuante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flutuarSeta 2s infinite no indicador de CardConsulta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Responsividade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Grid + cinco breakpoints customizados para experiências fluidas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7863840" cy="3657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228600" cy="22860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37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≥1100px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colunas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75688" y="2194560"/>
            <a:ext cx="228600" cy="22860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9" name="Text 7"/>
          <p:cNvSpPr/>
          <p:nvPr/>
        </p:nvSpPr>
        <p:spPr>
          <a:xfrm>
            <a:off x="1664208" y="1737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1100px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64208" y="2514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colunas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36976" y="2194560"/>
            <a:ext cx="228600" cy="22860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12" name="Text 10"/>
          <p:cNvSpPr/>
          <p:nvPr/>
        </p:nvSpPr>
        <p:spPr>
          <a:xfrm>
            <a:off x="2825496" y="1737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992px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25496" y="2514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 realinhados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98264" y="2194560"/>
            <a:ext cx="228600" cy="22860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15" name="Text 13"/>
          <p:cNvSpPr/>
          <p:nvPr/>
        </p:nvSpPr>
        <p:spPr>
          <a:xfrm>
            <a:off x="3986784" y="1737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768px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86784" y="2514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tablet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59552" y="2194560"/>
            <a:ext cx="228600" cy="22860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18" name="Text 16"/>
          <p:cNvSpPr/>
          <p:nvPr/>
        </p:nvSpPr>
        <p:spPr>
          <a:xfrm>
            <a:off x="5148072" y="1737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700px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48072" y="2514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colunas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0840" y="2194560"/>
            <a:ext cx="228600" cy="22860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737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576px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514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compacto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82128" y="2194560"/>
            <a:ext cx="228600" cy="22860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24" name="Text 22"/>
          <p:cNvSpPr/>
          <p:nvPr/>
        </p:nvSpPr>
        <p:spPr>
          <a:xfrm>
            <a:off x="7470648" y="1737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480px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70648" y="2514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coluna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8138160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383280"/>
            <a:ext cx="73152" cy="128016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Hub de Monitoramento (5 cards)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≥1100px: grid de 5 colunas  →  Tablet 700-1100px: 3 colunas  →  Mobile 480-700px: 2 colunas  →  Smartphone &lt;480px: coluna única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via @media (max-width: …) em CSS dedicado de cada componente.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Visuais de Destaque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componentes com complexidade visual acima da média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13816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CardHub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circulares SVG animados (stroke-dasharray) com modal flip 3D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13816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8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CardConsulta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expansível com max-height animado, seta flutuante e bordas dinâmicas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13816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AvatarPreview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606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DOM, 5 camadas PNG e grid responsivo de opções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13816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8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Carrossel Depoimentos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3246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Carousel com indicadores customizados, aspas em ::before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13816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CookieBanner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3886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fixo bottom com borda lateral verde e overlay modal LGPD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Globais do Projeto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quantitativo do código entregue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5087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HTML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280160"/>
            <a:ext cx="73152" cy="150876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9184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Components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5176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280160"/>
            <a:ext cx="73152" cy="15087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12648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CSS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265176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73152" cy="150876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08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globais JS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265176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71800"/>
            <a:ext cx="73152" cy="150876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3108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3.9k+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329184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JavaScript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5176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73152" cy="150876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3108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2.7k+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612648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HTML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área: 9 páginas Família + 8 Empresa + 6 Públicas + 4 painéis genéricos.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Componentes por Categoria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Web Components agrupados em 7 famílias funcionais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280160"/>
            <a:ext cx="34747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212080" y="1280160"/>
            <a:ext cx="73152" cy="338328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7" name="Text 4"/>
          <p:cNvSpPr/>
          <p:nvPr/>
        </p:nvSpPr>
        <p:spPr>
          <a:xfrm>
            <a:off x="53949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9496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Dashboard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55280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9496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0" y="2148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9496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Layout/Navegação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0" y="2514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9496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Utilitários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55280" y="2880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9496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95528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39496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95528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94960" y="3977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Diálogos/Modais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0" y="3977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está pronto no projeto vs o que precisaria de backend para produção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329184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819656"/>
            <a:ext cx="164592" cy="164592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dual-mode com flip 3D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12264"/>
            <a:ext cx="164592" cy="164592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756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Família e Empresa em 2 passos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404872"/>
            <a:ext cx="164592" cy="164592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3682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Agendamento, remarcação e cancelamento de consultas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164592" cy="164592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660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 Game Plus + completa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990088"/>
            <a:ext cx="164592" cy="164592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9535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customizável persistido em localStorage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282696"/>
            <a:ext cx="164592" cy="164592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2461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Individual / Familiar / Empresarial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575304"/>
            <a:ext cx="164592" cy="164592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538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pontos por gift cards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867912"/>
            <a:ext cx="164592" cy="164592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8313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institucionais e de especialidades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164592" cy="164592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1239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responsivo em 5 breakpoints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Implementar (para produção)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846320" y="1819656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1783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 autenticação real (JWT/OAuth)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112264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20756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para consultas e usuários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40487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23682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de produção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69748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2660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server-side dos formulários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2990088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29535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gateway de pagamento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282696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5074920" y="32461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(videochamada integrada)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575304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5074920" y="3538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push para agendamentos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86791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5074920" y="38313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Google/Outlook Calendar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416052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5074920" y="41239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 e auditoria WCAG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 do Projeto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diferenciais que destacam a entrega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138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566928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53312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modular reutilizável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13258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Web Components encapsulam toda a complexidade — fácil expandir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8138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38528"/>
            <a:ext cx="73152" cy="566928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011680"/>
            <a:ext cx="411480" cy="41148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19842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 completa e original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198424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Plus + (avatar, tarefas, ranking, troca) é diferencial competitivo real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8138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596896"/>
            <a:ext cx="73152" cy="566928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670048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264261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Família / Empresa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0" y="264261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Layouts, scripts e fluxos separados servem dois públicos no mesmo produto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55264"/>
            <a:ext cx="8138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55264"/>
            <a:ext cx="73152" cy="566928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328416"/>
            <a:ext cx="411480" cy="411480"/>
          </a:xfrm>
          <a:prstGeom prst="ellipse">
            <a:avLst/>
          </a:prstGeom>
          <a:solidFill>
            <a:srgbClr val="92C444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30098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multicamadas sofisticado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0560" y="330098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DOM + observedAttributes + localStorage entregam UX de jogo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13632"/>
            <a:ext cx="8138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913632"/>
            <a:ext cx="73152" cy="566928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3986784"/>
            <a:ext cx="411480" cy="411480"/>
          </a:xfrm>
          <a:prstGeom prst="ellipse">
            <a:avLst/>
          </a:prstGeom>
          <a:solidFill>
            <a:srgbClr val="3AADDE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986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8720" y="39593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glassmorphism moderno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80560" y="395935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contemporâneo com microinterações refinadas em todas as telas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Próximos Passos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natural do projeto rumo à produção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320040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Mínimo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de autenticação (JWT), CRUD de usuários e consultas, banco PostgreSQL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80160"/>
            <a:ext cx="73152" cy="3200400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C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(Zoom/Meet SDK), gateway de pagamento, notificações push e calendários externos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80160"/>
            <a:ext cx="73152" cy="320040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Escala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 (Jest/Cypress), auditoria WCAG 2.1, otimização de performance, CI/CD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entrega valor independente — não é necessário esperar a fase 3 para subir produção mínima.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— Análise Técnica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3AADD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914400" cy="54864"/>
          </a:xfrm>
          <a:prstGeom prst="rect">
            <a:avLst/>
          </a:prstGeom>
          <a:solidFill>
            <a:srgbClr val="92C4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6060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Plus Family é uma demonstração sólida do que é possível entregar em front-end nativo moderno: componentes reutilizáveis, design refinado e experiência completa para Família e Empresa.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Soares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— 2026</a:t>
            </a:r>
            <a:endParaRPr lang="en-US" sz="1100" dirty="0"/>
          </a:p>
        </p:txBody>
      </p:sp>
      <p:pic>
        <p:nvPicPr>
          <p:cNvPr id="8" name="Image 0" descr="C:\Users\ferch\OneDrive\Área de Trabalho\Challenge - Care Plus Family\.claude\worktrees\hungry-euclid-73d662\assets\Images\logo-care-pl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554480"/>
            <a:ext cx="2743200" cy="1828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completo para quem você ama.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Care Plus Family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 Plus Family — Análise Técnica do Projeto</dc:title>
  <dc:subject>Challenge — Análise técnica completa</dc:subject>
  <dc:creator>Fernando Soares</dc:creator>
  <cp:lastModifiedBy>Fernando Soares</cp:lastModifiedBy>
  <cp:revision>1</cp:revision>
  <dcterms:created xsi:type="dcterms:W3CDTF">2026-05-12T01:57:29Z</dcterms:created>
  <dcterms:modified xsi:type="dcterms:W3CDTF">2026-05-12T01:57:29Z</dcterms:modified>
</cp:coreProperties>
</file>